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4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30" d="100"/>
          <a:sy n="30" d="100"/>
        </p:scale>
        <p:origin x="43" y="12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18E81-5148-499A-8D73-E53622F75BE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BD2D36-76E0-4E62-A8E6-722AE8C56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51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FB89-5C26-47E6-A5A5-595E6F34197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974B-6CBE-4773-9F4C-44903CB13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15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FB89-5C26-47E6-A5A5-595E6F34197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974B-6CBE-4773-9F4C-44903CB13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75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FB89-5C26-47E6-A5A5-595E6F34197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974B-6CBE-4773-9F4C-44903CB13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71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FB89-5C26-47E6-A5A5-595E6F34197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974B-6CBE-4773-9F4C-44903CB13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2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FB89-5C26-47E6-A5A5-595E6F34197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974B-6CBE-4773-9F4C-44903CB13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0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FB89-5C26-47E6-A5A5-595E6F34197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974B-6CBE-4773-9F4C-44903CB13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380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FB89-5C26-47E6-A5A5-595E6F34197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974B-6CBE-4773-9F4C-44903CB13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75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FB89-5C26-47E6-A5A5-595E6F34197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974B-6CBE-4773-9F4C-44903CB13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9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FB89-5C26-47E6-A5A5-595E6F34197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974B-6CBE-4773-9F4C-44903CB13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7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FB89-5C26-47E6-A5A5-595E6F34197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974B-6CBE-4773-9F4C-44903CB13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94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FB89-5C26-47E6-A5A5-595E6F34197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974B-6CBE-4773-9F4C-44903CB13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8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7FB89-5C26-47E6-A5A5-595E6F341973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7974B-6CBE-4773-9F4C-44903CB13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03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41" y="457201"/>
            <a:ext cx="2672960" cy="700574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1851" y="1709738"/>
            <a:ext cx="6940550" cy="833437"/>
          </a:xfrm>
        </p:spPr>
        <p:txBody>
          <a:bodyPr>
            <a:normAutofit fontScale="90000"/>
          </a:bodyPr>
          <a:lstStyle/>
          <a:p>
            <a:r>
              <a:rPr lang="vi-VN" dirty="0" smtClean="0">
                <a:solidFill>
                  <a:schemeClr val="accent1"/>
                </a:solidFill>
              </a:rPr>
              <a:t>BÁO CÁO LỖ LÃI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831851" y="2733675"/>
            <a:ext cx="2768599" cy="561975"/>
          </a:xfrm>
        </p:spPr>
        <p:txBody>
          <a:bodyPr/>
          <a:lstStyle/>
          <a:p>
            <a:r>
              <a:rPr lang="vi-VN" dirty="0" smtClean="0">
                <a:solidFill>
                  <a:schemeClr val="accent1">
                    <a:lumMod val="50000"/>
                  </a:schemeClr>
                </a:solidFill>
              </a:rPr>
              <a:t>THÁNG 5/2024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929" y="3014662"/>
            <a:ext cx="3734871" cy="351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51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009649" y="1228725"/>
            <a:ext cx="2238375" cy="42481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accent1">
                    <a:lumMod val="50000"/>
                  </a:schemeClr>
                </a:solidFill>
              </a:rPr>
              <a:t>DOANH THU</a:t>
            </a:r>
          </a:p>
          <a:p>
            <a:pPr algn="ctr"/>
            <a:r>
              <a:rPr lang="vi-VN" dirty="0" smtClean="0">
                <a:solidFill>
                  <a:schemeClr val="accent1">
                    <a:lumMod val="50000"/>
                  </a:schemeClr>
                </a:solidFill>
              </a:rPr>
              <a:t>THUẦN</a:t>
            </a:r>
          </a:p>
          <a:p>
            <a:pPr algn="ctr"/>
            <a:r>
              <a:rPr lang="vi-VN" sz="4000" dirty="0" smtClean="0">
                <a:solidFill>
                  <a:schemeClr val="accent1">
                    <a:lumMod val="50000"/>
                  </a:schemeClr>
                </a:solidFill>
              </a:rPr>
              <a:t>12,45</a:t>
            </a:r>
          </a:p>
          <a:p>
            <a:pPr algn="ctr"/>
            <a:r>
              <a:rPr lang="vi-VN" dirty="0" smtClean="0">
                <a:solidFill>
                  <a:schemeClr val="accent1">
                    <a:lumMod val="50000"/>
                  </a:schemeClr>
                </a:solidFill>
              </a:rPr>
              <a:t>VND</a:t>
            </a:r>
          </a:p>
          <a:p>
            <a:pPr algn="ctr"/>
            <a:endParaRPr lang="vi-VN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vi-VN" dirty="0" smtClean="0">
                <a:solidFill>
                  <a:schemeClr val="accent1">
                    <a:lumMod val="50000"/>
                  </a:schemeClr>
                </a:solidFill>
              </a:rPr>
              <a:t>+ 18,6% so với 2024</a:t>
            </a:r>
          </a:p>
          <a:p>
            <a:pPr algn="ctr"/>
            <a:endParaRPr lang="vi-VN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10025" y="1228725"/>
            <a:ext cx="2209801" cy="42481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accent6"/>
                </a:solidFill>
              </a:rPr>
              <a:t>TỔNG CHI PHÍ</a:t>
            </a:r>
          </a:p>
          <a:p>
            <a:pPr algn="ctr"/>
            <a:r>
              <a:rPr lang="vi-VN" sz="4400" dirty="0" smtClean="0">
                <a:solidFill>
                  <a:schemeClr val="accent6"/>
                </a:solidFill>
              </a:rPr>
              <a:t>7,28</a:t>
            </a:r>
          </a:p>
          <a:p>
            <a:pPr algn="ctr"/>
            <a:r>
              <a:rPr lang="vi-VN" dirty="0" smtClean="0">
                <a:solidFill>
                  <a:schemeClr val="accent6"/>
                </a:solidFill>
              </a:rPr>
              <a:t>VND</a:t>
            </a:r>
          </a:p>
          <a:p>
            <a:pPr algn="ctr"/>
            <a:endParaRPr lang="vi-VN" dirty="0">
              <a:solidFill>
                <a:schemeClr val="accent6"/>
              </a:solidFill>
            </a:endParaRPr>
          </a:p>
          <a:p>
            <a:pPr algn="ctr"/>
            <a:r>
              <a:rPr lang="vi-VN" dirty="0" smtClean="0">
                <a:solidFill>
                  <a:schemeClr val="accent6"/>
                </a:solidFill>
              </a:rPr>
              <a:t>+ 12,1% so với 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81827" y="1228725"/>
            <a:ext cx="2095500" cy="42481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accent2">
                    <a:lumMod val="75000"/>
                  </a:schemeClr>
                </a:solidFill>
              </a:rPr>
              <a:t>LỢI NHUẬN GÓP</a:t>
            </a:r>
          </a:p>
          <a:p>
            <a:pPr algn="ctr"/>
            <a:r>
              <a:rPr lang="vi-VN" sz="4400" dirty="0" smtClean="0">
                <a:solidFill>
                  <a:schemeClr val="accent2">
                    <a:lumMod val="75000"/>
                  </a:schemeClr>
                </a:solidFill>
              </a:rPr>
              <a:t>5,17</a:t>
            </a:r>
          </a:p>
          <a:p>
            <a:pPr algn="ctr"/>
            <a:r>
              <a:rPr lang="vi-VN" dirty="0" smtClean="0">
                <a:solidFill>
                  <a:schemeClr val="accent2">
                    <a:lumMod val="75000"/>
                  </a:schemeClr>
                </a:solidFill>
              </a:rPr>
              <a:t>VND</a:t>
            </a:r>
          </a:p>
          <a:p>
            <a:pPr algn="ctr"/>
            <a:endParaRPr lang="vi-VN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vi-VN" dirty="0" smtClean="0">
                <a:solidFill>
                  <a:schemeClr val="accent2">
                    <a:lumMod val="75000"/>
                  </a:schemeClr>
                </a:solidFill>
              </a:rPr>
              <a:t>+ 27,4% so với 2024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839328" y="1228726"/>
            <a:ext cx="1952622" cy="42481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rgbClr val="7030A0"/>
                </a:solidFill>
              </a:rPr>
              <a:t>LỢI NHUẬN SAU THUẾ</a:t>
            </a:r>
          </a:p>
          <a:p>
            <a:pPr algn="ctr"/>
            <a:r>
              <a:rPr lang="vi-VN" sz="4400" dirty="0" smtClean="0">
                <a:solidFill>
                  <a:srgbClr val="7030A0"/>
                </a:solidFill>
              </a:rPr>
              <a:t>2,89</a:t>
            </a:r>
          </a:p>
          <a:p>
            <a:pPr algn="ctr"/>
            <a:r>
              <a:rPr lang="vi-VN" dirty="0" smtClean="0">
                <a:solidFill>
                  <a:srgbClr val="7030A0"/>
                </a:solidFill>
              </a:rPr>
              <a:t>VND</a:t>
            </a:r>
          </a:p>
          <a:p>
            <a:pPr algn="ctr"/>
            <a:endParaRPr lang="vi-VN" dirty="0">
              <a:solidFill>
                <a:srgbClr val="7030A0"/>
              </a:solidFill>
            </a:endParaRPr>
          </a:p>
          <a:p>
            <a:pPr algn="ctr"/>
            <a:r>
              <a:rPr lang="vi-VN" dirty="0" smtClean="0">
                <a:solidFill>
                  <a:srgbClr val="7030A0"/>
                </a:solidFill>
              </a:rPr>
              <a:t>+ 31,2% so với 2024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56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6" y="558801"/>
            <a:ext cx="5527674" cy="1701800"/>
          </a:xfrm>
        </p:spPr>
        <p:txBody>
          <a:bodyPr>
            <a:normAutofit/>
          </a:bodyPr>
          <a:lstStyle/>
          <a:p>
            <a:r>
              <a:rPr lang="vi-VN" sz="2400" dirty="0" smtClean="0">
                <a:solidFill>
                  <a:schemeClr val="accent4">
                    <a:lumMod val="75000"/>
                  </a:schemeClr>
                </a:solidFill>
              </a:rPr>
              <a:t>DOANH THU THUẦN</a:t>
            </a:r>
            <a:endParaRPr lang="en-US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6" y="1981200"/>
            <a:ext cx="4676275" cy="4038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109" y="1985118"/>
            <a:ext cx="4216892" cy="403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4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93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54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BÁO CÁO LỖ LÃI</vt:lpstr>
      <vt:lpstr>PowerPoint Presentation</vt:lpstr>
      <vt:lpstr>DOANH THU THUẦN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2026-10-26T03:51:06Z</dcterms:created>
  <dcterms:modified xsi:type="dcterms:W3CDTF">2026-10-26T10:15:18Z</dcterms:modified>
</cp:coreProperties>
</file>